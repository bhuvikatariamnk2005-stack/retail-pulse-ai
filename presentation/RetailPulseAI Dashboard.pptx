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3294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3294B"/>
                </a:solidFill>
                <a:latin typeface="Arial"/>
              </a:rPr>
              <a:t>Profit Contribution by Region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Share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3294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West</c:v>
                  </c:pt>
                  <c:pt idx="1">
                    <c:v>East</c:v>
                  </c:pt>
                  <c:pt idx="2">
                    <c:v>Central</c:v>
                  </c:pt>
                  <c:pt idx="3">
                    <c:v>South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29</c:v>
                </c:pt>
                <c:pt idx="2">
                  <c:v>19</c:v>
                </c:pt>
                <c:pt idx="3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3294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image" Target="../media/image-8-4.png"/><Relationship Id="rId6" Type="http://schemas.openxmlformats.org/officeDocument/2006/relationships/image" Target="../media/image-8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3294B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291840"/>
            <a:ext cx="4572000" cy="4572000"/>
          </a:xfrm>
          <a:prstGeom prst="ellipse">
            <a:avLst/>
          </a:prstGeom>
          <a:solidFill>
            <a:srgbClr val="0E7C7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  ·  DATA ANALYTICS &amp; MACHINE LEARNING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Pulse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Dashboard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Python-powered analytics &amp; forecasting platform for retail sales, profit, and customer intelligence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5440680"/>
            <a:ext cx="10515600" cy="10973"/>
          </a:xfrm>
          <a:prstGeom prst="rect">
            <a:avLst/>
          </a:prstGeom>
          <a:solidFill>
            <a:srgbClr val="2A3F5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56692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56692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
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&amp; ML Intern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515600" y="5532120"/>
            <a:ext cx="777240" cy="7772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9910" y="5726430"/>
            <a:ext cx="388620" cy="3886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businesses generate large volumes of transactional data every day — but raw data rarely turns into action without the right tools.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53896" y="2560320"/>
            <a:ext cx="731520" cy="73152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6776" y="27432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347472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Complexity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" y="3977640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profit, and customer data are scattered across multiple categories, regions, and time periods.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91840" y="2240280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97096" y="2560320"/>
            <a:ext cx="731520" cy="73152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27432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56432" y="347472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Visibility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493008" y="3977640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Decision-makers lack a single, clear view of business performance trends.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35040" y="2240280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940296" y="2560320"/>
            <a:ext cx="731520" cy="73152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176" y="27432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99632" y="347472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Unknown Customers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236208" y="3977640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 and buying behavior remain unexplored without analytical tools.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8778240" y="2240280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683496" y="2560320"/>
            <a:ext cx="731520" cy="73152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6376" y="274320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942832" y="347472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Forward Planning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8979408" y="3977640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reporting offers no way to forecast future sales or anticipate demand.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PULSE AI DASHBOARD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9379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38528"/>
            <a:ext cx="621792" cy="621792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9397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37360"/>
            <a:ext cx="39593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retail sales and profit trends across regions and categories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016752" y="1600200"/>
            <a:ext cx="519379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272784" y="1938528"/>
            <a:ext cx="621792" cy="621792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209397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68312" y="1737360"/>
            <a:ext cx="39593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customers based on purchasing behavior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548640" y="3127248"/>
            <a:ext cx="519379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04672" y="3465576"/>
            <a:ext cx="621792" cy="621792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621024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00200" y="3264408"/>
            <a:ext cx="39593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inventory performance and stock patterns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016752" y="3127248"/>
            <a:ext cx="519379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272784" y="3465576"/>
            <a:ext cx="621792" cy="621792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3621024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68312" y="3264408"/>
            <a:ext cx="39593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ML models to forecast future sales</a:t>
            </a:r>
            <a:endParaRPr lang="en-US" sz="1450" dirty="0"/>
          </a:p>
        </p:txBody>
      </p:sp>
      <p:sp>
        <p:nvSpPr>
          <p:cNvPr id="20" name="Shape 14"/>
          <p:cNvSpPr/>
          <p:nvPr/>
        </p:nvSpPr>
        <p:spPr>
          <a:xfrm>
            <a:off x="548640" y="4654296"/>
            <a:ext cx="519379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04672" y="4992624"/>
            <a:ext cx="621792" cy="621792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148072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600200" y="4791456"/>
            <a:ext cx="39593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insights through an interactive Streamlit dashboard</a:t>
            </a:r>
            <a:endParaRPr lang="en-US" sz="1450" dirty="0"/>
          </a:p>
        </p:txBody>
      </p:sp>
      <p:sp>
        <p:nvSpPr>
          <p:cNvPr id="24" name="Shape 17"/>
          <p:cNvSpPr/>
          <p:nvPr/>
        </p:nvSpPr>
        <p:spPr>
          <a:xfrm>
            <a:off x="6016752" y="4654296"/>
            <a:ext cx="519379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272784" y="4992624"/>
            <a:ext cx="621792" cy="621792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8232" y="5148072"/>
            <a:ext cx="310896" cy="31089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068312" y="4791456"/>
            <a:ext cx="39593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faster, data-driven business decisions</a:t>
            </a:r>
            <a:endParaRPr lang="en-US" sz="1450" dirty="0"/>
          </a:p>
        </p:txBody>
      </p:sp>
      <p:sp>
        <p:nvSpPr>
          <p:cNvPr id="28" name="Text 20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PULSE AI DASHBOARD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749040" cy="4526280"/>
          </a:xfrm>
          <a:prstGeom prst="roundRect">
            <a:avLst>
              <a:gd name="adj" fmla="val 1951"/>
            </a:avLst>
          </a:prstGeom>
          <a:solidFill>
            <a:srgbClr val="13294B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731520" cy="7315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0116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697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Transaction Dataset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2461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store-level transactional dataset covering sales, profitability, and customer activity — used as the single source of truth for all analysis and ML models.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5074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68680" y="5349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CSV / tabular data, row per transaction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617720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17720" y="1965960"/>
            <a:ext cx="69951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00600" y="2253996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1"/>
          <p:cNvSpPr/>
          <p:nvPr/>
        </p:nvSpPr>
        <p:spPr>
          <a:xfrm>
            <a:off x="5074920" y="2029968"/>
            <a:ext cx="22860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/ date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406640" y="2029968"/>
            <a:ext cx="4114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identifier and date of sale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617720" y="2706624"/>
            <a:ext cx="69951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800600" y="299466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5"/>
          <p:cNvSpPr/>
          <p:nvPr/>
        </p:nvSpPr>
        <p:spPr>
          <a:xfrm>
            <a:off x="5074920" y="2770632"/>
            <a:ext cx="22860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profit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406640" y="2770632"/>
            <a:ext cx="4114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profitability per transaction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617720" y="3447288"/>
            <a:ext cx="69951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800600" y="3735324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19"/>
          <p:cNvSpPr/>
          <p:nvPr/>
        </p:nvSpPr>
        <p:spPr>
          <a:xfrm>
            <a:off x="5074920" y="3511296"/>
            <a:ext cx="22860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&amp; category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406640" y="3511296"/>
            <a:ext cx="4114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and product classification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617720" y="4187952"/>
            <a:ext cx="69951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800600" y="447598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Text 23"/>
          <p:cNvSpPr/>
          <p:nvPr/>
        </p:nvSpPr>
        <p:spPr>
          <a:xfrm>
            <a:off x="5074920" y="4251960"/>
            <a:ext cx="22860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sub_category &amp; product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406640" y="4251960"/>
            <a:ext cx="4114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product-level detail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617720" y="4928616"/>
            <a:ext cx="69951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800600" y="5216652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0" name="Text 27"/>
          <p:cNvSpPr/>
          <p:nvPr/>
        </p:nvSpPr>
        <p:spPr>
          <a:xfrm>
            <a:off x="5074920" y="4992624"/>
            <a:ext cx="22860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&amp; segment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406640" y="4992624"/>
            <a:ext cx="4114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identity and business segment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617720" y="5669280"/>
            <a:ext cx="69951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800600" y="5957316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4" name="Text 31"/>
          <p:cNvSpPr/>
          <p:nvPr/>
        </p:nvSpPr>
        <p:spPr>
          <a:xfrm>
            <a:off x="5074920" y="5733288"/>
            <a:ext cx="22860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&amp; quantity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7406640" y="5733288"/>
            <a:ext cx="4114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and order volume detail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PULSE AI DASHBOARD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420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90472" y="1947672"/>
            <a:ext cx="658368" cy="658368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8605" y="2095805"/>
            <a:ext cx="362102" cy="3621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74320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85800" y="310896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1691640"/>
            <a:ext cx="25420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33672" y="1947672"/>
            <a:ext cx="658368" cy="65836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805" y="2095805"/>
            <a:ext cx="362102" cy="3621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29000" y="274320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429000" y="310896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 &amp; cleaning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35040" y="1691640"/>
            <a:ext cx="25420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976872" y="1947672"/>
            <a:ext cx="658368" cy="658368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005" y="2095805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72200" y="274320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172200" y="310896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computing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778240" y="1691640"/>
            <a:ext cx="25420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720072" y="1947672"/>
            <a:ext cx="658368" cy="65836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8205" y="2095805"/>
            <a:ext cx="362102" cy="3621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15400" y="274320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915400" y="310896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dashboard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3886200"/>
            <a:ext cx="25420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490472" y="4142232"/>
            <a:ext cx="658368" cy="658368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8605" y="4290365"/>
            <a:ext cx="362102" cy="3621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5800" y="493776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Plotly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685800" y="530352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data visualization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3291840" y="3886200"/>
            <a:ext cx="25420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233672" y="4142232"/>
            <a:ext cx="658368" cy="65836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1805" y="4290365"/>
            <a:ext cx="362102" cy="3621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429000" y="493776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Scikit-learn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3429000" y="530352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(ML)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6035040" y="3886200"/>
            <a:ext cx="25420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976872" y="4142232"/>
            <a:ext cx="658368" cy="658368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5005" y="4290365"/>
            <a:ext cx="362102" cy="36210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172200" y="493776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1450" dirty="0"/>
          </a:p>
        </p:txBody>
      </p:sp>
      <p:sp>
        <p:nvSpPr>
          <p:cNvPr id="38" name="Text 29"/>
          <p:cNvSpPr/>
          <p:nvPr/>
        </p:nvSpPr>
        <p:spPr>
          <a:xfrm>
            <a:off x="6172200" y="530352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predictive modeling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8778240" y="3886200"/>
            <a:ext cx="25420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720072" y="4142232"/>
            <a:ext cx="658368" cy="65836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68205" y="4290365"/>
            <a:ext cx="362102" cy="36210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8915400" y="493776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Prophet</a:t>
            </a:r>
            <a:endParaRPr lang="en-US" sz="1450" dirty="0"/>
          </a:p>
        </p:txBody>
      </p:sp>
      <p:sp>
        <p:nvSpPr>
          <p:cNvPr id="43" name="Text 33"/>
          <p:cNvSpPr/>
          <p:nvPr/>
        </p:nvSpPr>
        <p:spPr>
          <a:xfrm>
            <a:off x="8915400" y="530352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sales forecasting</a:t>
            </a:r>
            <a:endParaRPr lang="en-US" sz="1100" dirty="0"/>
          </a:p>
        </p:txBody>
      </p:sp>
      <p:sp>
        <p:nvSpPr>
          <p:cNvPr id="44" name="Text 34"/>
          <p:cNvSpPr/>
          <p:nvPr/>
        </p:nvSpPr>
        <p:spPr>
          <a:xfrm>
            <a:off x="548640" y="60807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 for automated PDF report generation</a:t>
            </a:r>
            <a:endParaRPr lang="en-US" sz="1250" dirty="0"/>
          </a:p>
        </p:txBody>
      </p:sp>
      <p:sp>
        <p:nvSpPr>
          <p:cNvPr id="45" name="Text 3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PULSE AI DASHBOARD</a:t>
            </a:r>
            <a:endParaRPr lang="en-US" sz="900" dirty="0"/>
          </a:p>
        </p:txBody>
      </p:sp>
      <p:sp>
        <p:nvSpPr>
          <p:cNvPr id="46" name="Text 36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Architecture &amp;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722120" cy="2834640"/>
          </a:xfrm>
          <a:prstGeom prst="roundRect">
            <a:avLst>
              <a:gd name="adj" fmla="val 3717"/>
            </a:avLst>
          </a:prstGeom>
          <a:solidFill>
            <a:srgbClr val="13294B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95728"/>
            <a:ext cx="144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7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98804" y="2788920"/>
            <a:ext cx="621792" cy="621792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4252" y="2944368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566160"/>
            <a:ext cx="153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58368" y="4160520"/>
            <a:ext cx="1502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raw retail transaction data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616" y="3621024"/>
            <a:ext cx="164592" cy="16459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417064" y="2286000"/>
            <a:ext cx="1722120" cy="2834640"/>
          </a:xfrm>
          <a:prstGeom prst="roundRect">
            <a:avLst>
              <a:gd name="adj" fmla="val 37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2554224" y="2395728"/>
            <a:ext cx="144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967228" y="2788920"/>
            <a:ext cx="621792" cy="621792"/>
          </a:xfrm>
          <a:prstGeom prst="ellipse">
            <a:avLst/>
          </a:prstGeom>
          <a:solidFill>
            <a:srgbClr val="E3F1F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2676" y="2944368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508504" y="3566160"/>
            <a:ext cx="153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2526792" y="4160520"/>
            <a:ext cx="1502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 &amp; standardize formats</a:t>
            </a:r>
            <a:endParaRPr lang="en-US" sz="10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0040" y="3621024"/>
            <a:ext cx="164592" cy="16459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285488" y="2286000"/>
            <a:ext cx="1722120" cy="2834640"/>
          </a:xfrm>
          <a:prstGeom prst="roundRect">
            <a:avLst>
              <a:gd name="adj" fmla="val 3717"/>
            </a:avLst>
          </a:prstGeom>
          <a:solidFill>
            <a:srgbClr val="13294B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4422648" y="2395728"/>
            <a:ext cx="144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7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835652" y="2788920"/>
            <a:ext cx="621792" cy="621792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1100" y="2944368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76928" y="3566160"/>
            <a:ext cx="153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Analysis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4395216" y="4160520"/>
            <a:ext cx="1502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 trends in sales &amp; profit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8464" y="3621024"/>
            <a:ext cx="164592" cy="164592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6153912" y="2286000"/>
            <a:ext cx="1722120" cy="2834640"/>
          </a:xfrm>
          <a:prstGeom prst="roundRect">
            <a:avLst>
              <a:gd name="adj" fmla="val 3717"/>
            </a:avLst>
          </a:prstGeom>
          <a:solidFill>
            <a:srgbClr val="13294B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18"/>
          <p:cNvSpPr/>
          <p:nvPr/>
        </p:nvSpPr>
        <p:spPr>
          <a:xfrm>
            <a:off x="6291072" y="2395728"/>
            <a:ext cx="144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7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6704076" y="2788920"/>
            <a:ext cx="621792" cy="621792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9524" y="2944368"/>
            <a:ext cx="310896" cy="31089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245352" y="3566160"/>
            <a:ext cx="153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Modeling</a:t>
            </a:r>
            <a:endParaRPr lang="en-US" sz="1300" dirty="0"/>
          </a:p>
        </p:txBody>
      </p:sp>
      <p:sp>
        <p:nvSpPr>
          <p:cNvPr id="30" name="Text 21"/>
          <p:cNvSpPr/>
          <p:nvPr/>
        </p:nvSpPr>
        <p:spPr>
          <a:xfrm>
            <a:off x="6263640" y="4160520"/>
            <a:ext cx="1502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&amp; segmentation models</a:t>
            </a:r>
            <a:endParaRPr lang="en-US" sz="10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6888" y="3621024"/>
            <a:ext cx="164592" cy="164592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8022336" y="2286000"/>
            <a:ext cx="1722120" cy="2834640"/>
          </a:xfrm>
          <a:prstGeom prst="roundRect">
            <a:avLst>
              <a:gd name="adj" fmla="val 3717"/>
            </a:avLst>
          </a:prstGeom>
          <a:solidFill>
            <a:srgbClr val="13294B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Text 23"/>
          <p:cNvSpPr/>
          <p:nvPr/>
        </p:nvSpPr>
        <p:spPr>
          <a:xfrm>
            <a:off x="8159496" y="2395728"/>
            <a:ext cx="144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7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4" name="Shape 24"/>
          <p:cNvSpPr/>
          <p:nvPr/>
        </p:nvSpPr>
        <p:spPr>
          <a:xfrm>
            <a:off x="8572500" y="2788920"/>
            <a:ext cx="621792" cy="621792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27948" y="2944368"/>
            <a:ext cx="310896" cy="310896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8113776" y="3566160"/>
            <a:ext cx="153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Dashboard</a:t>
            </a:r>
            <a:endParaRPr lang="en-US" sz="1300" dirty="0"/>
          </a:p>
        </p:txBody>
      </p:sp>
      <p:sp>
        <p:nvSpPr>
          <p:cNvPr id="37" name="Text 26"/>
          <p:cNvSpPr/>
          <p:nvPr/>
        </p:nvSpPr>
        <p:spPr>
          <a:xfrm>
            <a:off x="8132064" y="4160520"/>
            <a:ext cx="1502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visualization layer</a:t>
            </a:r>
            <a:endParaRPr lang="en-US" sz="1000" dirty="0"/>
          </a:p>
        </p:txBody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35312" y="3621024"/>
            <a:ext cx="164592" cy="164592"/>
          </a:xfrm>
          <a:prstGeom prst="rect">
            <a:avLst/>
          </a:prstGeom>
        </p:spPr>
      </p:pic>
      <p:sp>
        <p:nvSpPr>
          <p:cNvPr id="39" name="Shape 27"/>
          <p:cNvSpPr/>
          <p:nvPr/>
        </p:nvSpPr>
        <p:spPr>
          <a:xfrm>
            <a:off x="9890760" y="2286000"/>
            <a:ext cx="1722120" cy="2834640"/>
          </a:xfrm>
          <a:prstGeom prst="roundRect">
            <a:avLst>
              <a:gd name="adj" fmla="val 37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40" name="Text 28"/>
          <p:cNvSpPr/>
          <p:nvPr/>
        </p:nvSpPr>
        <p:spPr>
          <a:xfrm>
            <a:off x="10027920" y="2395728"/>
            <a:ext cx="144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1" name="Shape 29"/>
          <p:cNvSpPr/>
          <p:nvPr/>
        </p:nvSpPr>
        <p:spPr>
          <a:xfrm>
            <a:off x="10440924" y="2788920"/>
            <a:ext cx="621792" cy="621792"/>
          </a:xfrm>
          <a:prstGeom prst="ellipse">
            <a:avLst/>
          </a:prstGeom>
          <a:solidFill>
            <a:srgbClr val="E3F1F0"/>
          </a:solidFill>
          <a:ln/>
        </p:spPr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96372" y="2944368"/>
            <a:ext cx="310896" cy="310896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9982200" y="3566160"/>
            <a:ext cx="153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Insights</a:t>
            </a:r>
            <a:endParaRPr lang="en-US" sz="1300" dirty="0"/>
          </a:p>
        </p:txBody>
      </p:sp>
      <p:sp>
        <p:nvSpPr>
          <p:cNvPr id="44" name="Text 31"/>
          <p:cNvSpPr/>
          <p:nvPr/>
        </p:nvSpPr>
        <p:spPr>
          <a:xfrm>
            <a:off x="10000488" y="4160520"/>
            <a:ext cx="1502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decisions &amp; reports</a:t>
            </a:r>
            <a:endParaRPr lang="en-US" sz="1000" dirty="0"/>
          </a:p>
        </p:txBody>
      </p:sp>
      <p:sp>
        <p:nvSpPr>
          <p:cNvPr id="45" name="Text 32"/>
          <p:cNvSpPr/>
          <p:nvPr/>
        </p:nvSpPr>
        <p:spPr>
          <a:xfrm>
            <a:off x="548640" y="54406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linear pipeline: each stage feeds the next, turning raw transactional data into forecasts, segments, and a decision-ready dashboard.</a:t>
            </a:r>
            <a:endParaRPr lang="en-US" sz="1300" dirty="0"/>
          </a:p>
        </p:txBody>
      </p:sp>
      <p:sp>
        <p:nvSpPr>
          <p:cNvPr id="46" name="Text 3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PULSE AI DASHBOARD</a:t>
            </a:r>
            <a:endParaRPr lang="en-US" sz="900" dirty="0"/>
          </a:p>
        </p:txBody>
      </p:sp>
      <p:sp>
        <p:nvSpPr>
          <p:cNvPr id="47" name="Text 34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interactive Streamlit application that brings every analysis into one decision-ready interface.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0352" cy="530352"/>
          </a:xfrm>
          <a:prstGeom prst="ellipse">
            <a:avLst/>
          </a:prstGeom>
          <a:solidFill>
            <a:srgbClr val="E3F1F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2189988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02082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Filters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34440" y="23317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data instantly by Region and Category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898648"/>
            <a:ext cx="530352" cy="530352"/>
          </a:xfrm>
          <a:prstGeom prst="ellipse">
            <a:avLst/>
          </a:prstGeom>
          <a:solidFill>
            <a:srgbClr val="E3F1F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" y="3031236"/>
            <a:ext cx="265176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86207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&amp; Profit Trends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234440" y="317296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performance over time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739896"/>
            <a:ext cx="530352" cy="530352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" y="3872484"/>
            <a:ext cx="265176" cy="2651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370332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234440" y="401421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clusters by behavior &amp; value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4581144"/>
            <a:ext cx="530352" cy="530352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" y="4713732"/>
            <a:ext cx="265176" cy="26517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34440" y="454456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 Panel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234440" y="485546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sales for upcoming periods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48640" y="5422392"/>
            <a:ext cx="530352" cy="530352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" y="5554980"/>
            <a:ext cx="265176" cy="26517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34440" y="5385816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Exportable Reports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1234440" y="569671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PDF summaries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5989320" y="1463040"/>
            <a:ext cx="5669280" cy="4617720"/>
          </a:xfrm>
          <a:prstGeom prst="roundRect">
            <a:avLst>
              <a:gd name="adj" fmla="val 1188"/>
            </a:avLst>
          </a:prstGeom>
          <a:solidFill>
            <a:srgbClr val="FBFCFD"/>
          </a:solidFill>
          <a:ln w="15875">
            <a:solidFill>
              <a:srgbClr val="E2E8F0"/>
            </a:solidFill>
            <a:prstDash val="dash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3355848"/>
            <a:ext cx="502920" cy="5029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172200" y="391363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Dashboard Screenshot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(Home view with filters applied)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PULSE AI DASHBOARD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52120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26280"/>
            <a:ext cx="5212080" cy="1508760"/>
          </a:xfrm>
          <a:prstGeom prst="roundRect">
            <a:avLst>
              <a:gd name="adj" fmla="val 3636"/>
            </a:avLst>
          </a:prstGeom>
          <a:solidFill>
            <a:srgbClr val="FBFCFD"/>
          </a:solidFill>
          <a:ln w="15875">
            <a:solidFill>
              <a:srgbClr val="E2E8F0"/>
            </a:solidFill>
            <a:prstDash val="dash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454" y="4904842"/>
            <a:ext cx="422453" cy="42245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538215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Regional / Category Chart Screenshot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989320" y="1600200"/>
            <a:ext cx="512064" cy="512064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336" y="1728216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75120" y="1554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Regions &amp; Categories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675120" y="1856232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&amp; East regions and the Technology category drive the largest share of profit.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5989320" y="2761488"/>
            <a:ext cx="512064" cy="512064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336" y="2889504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675120" y="27157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 Trends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6675120" y="301752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grows steadily with sales volume, but margins vary widely by category.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5989320" y="3922776"/>
            <a:ext cx="512064" cy="512064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7336" y="4050792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675120" y="387705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6675120" y="4178808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segments emerge — high-value loyal customers vs. price-sensitive buyers.</a:t>
            </a:r>
            <a:endParaRPr lang="en-US" sz="1150" dirty="0"/>
          </a:p>
        </p:txBody>
      </p:sp>
      <p:sp>
        <p:nvSpPr>
          <p:cNvPr id="20" name="Shape 13"/>
          <p:cNvSpPr/>
          <p:nvPr/>
        </p:nvSpPr>
        <p:spPr>
          <a:xfrm>
            <a:off x="5989320" y="5084064"/>
            <a:ext cx="512064" cy="512064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7336" y="5212080"/>
            <a:ext cx="256032" cy="25603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675120" y="503834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 Impact</a:t>
            </a:r>
            <a:endParaRPr lang="en-US" sz="1350" dirty="0"/>
          </a:p>
        </p:txBody>
      </p:sp>
      <p:sp>
        <p:nvSpPr>
          <p:cNvPr id="23" name="Text 15"/>
          <p:cNvSpPr/>
          <p:nvPr/>
        </p:nvSpPr>
        <p:spPr>
          <a:xfrm>
            <a:off x="6675120" y="5340096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above ~20% are strongly correlated with reduced or negative profit.</a:t>
            </a:r>
            <a:endParaRPr lang="en-US" sz="1150" dirty="0"/>
          </a:p>
        </p:txBody>
      </p:sp>
      <p:sp>
        <p:nvSpPr>
          <p:cNvPr id="24" name="Text 1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PULSE AI DASHBOARD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DELIVERED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Outcomes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42032" cy="1828800"/>
          </a:xfrm>
          <a:prstGeom prst="roundRect">
            <a:avLst>
              <a:gd name="adj" fmla="val 4000"/>
            </a:avLst>
          </a:prstGeom>
          <a:solidFill>
            <a:srgbClr val="13294B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87452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560320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Decisions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898648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 replaces manual reporting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691640"/>
            <a:ext cx="2542032" cy="1828800"/>
          </a:xfrm>
          <a:prstGeom prst="roundRect">
            <a:avLst>
              <a:gd name="adj" fmla="val 4000"/>
            </a:avLst>
          </a:prstGeom>
          <a:solidFill>
            <a:srgbClr val="13294B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87452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12-Mo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29000" y="2560320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2898648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Forward-looking demand predictions via Prophet &amp; XGBoost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691640"/>
            <a:ext cx="2542032" cy="1828800"/>
          </a:xfrm>
          <a:prstGeom prst="roundRect">
            <a:avLst>
              <a:gd name="adj" fmla="val 4000"/>
            </a:avLst>
          </a:prstGeom>
          <a:solidFill>
            <a:srgbClr val="13294B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87452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Segments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172200" y="2560320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Clusters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2898648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Behavior-based groups for targeted strategy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778240" y="1691640"/>
            <a:ext cx="2542032" cy="1828800"/>
          </a:xfrm>
          <a:prstGeom prst="roundRect">
            <a:avLst>
              <a:gd name="adj" fmla="val 4000"/>
            </a:avLst>
          </a:prstGeom>
          <a:solidFill>
            <a:srgbClr val="13294B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15400" y="187452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915400" y="2560320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61120" y="2898648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view of sales, profit &amp; inventory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886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25196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proactive, data-driven inventory and marketing decisions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high-value customer segments for targeted retention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reduces stockouts and overstock risk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static spreadsheets with a live, explorable dashboard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126480" y="3886200"/>
            <a:ext cx="5532120" cy="2377440"/>
          </a:xfrm>
          <a:prstGeom prst="roundRect">
            <a:avLst>
              <a:gd name="adj" fmla="val 2308"/>
            </a:avLst>
          </a:prstGeom>
          <a:solidFill>
            <a:srgbClr val="FBFCFD"/>
          </a:solidFill>
          <a:ln w="15875">
            <a:solidFill>
              <a:srgbClr val="E2E8F0"/>
            </a:solidFill>
            <a:prstDash val="dash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0" y="4658868"/>
            <a:ext cx="502920" cy="5029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309360" y="5216652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Forecast Chart / Customer Cluster Screenshot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PULSE AI DASHBOARD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13294B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2286000"/>
            <a:ext cx="5029200" cy="5029200"/>
          </a:xfrm>
          <a:prstGeom prst="ellipse">
            <a:avLst/>
          </a:prstGeom>
          <a:solidFill>
            <a:srgbClr val="0E7C7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DC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Transformed raw retail data into a unified analytics platform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DC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statistical analysis with ML forecasting and segmentation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DC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insights through an accessible, interactive dashboard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DC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foundation for faster, evidence-based retail decisions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263640" y="1691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2103120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7940" y="2217420"/>
            <a:ext cx="22860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0" y="21031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C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for wider, anytime access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63640" y="2816352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940" y="2930652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858000" y="281635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C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/ live data pipeline integration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263640" y="3529584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940" y="3643884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58000" y="352958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C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ML models for deeper predictive accuracy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263640" y="4242816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940" y="4357116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58000" y="424281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C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customer recommendation engine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640080" y="5989320"/>
            <a:ext cx="10881360" cy="10973"/>
          </a:xfrm>
          <a:prstGeom prst="rect">
            <a:avLst/>
          </a:prstGeom>
          <a:solidFill>
            <a:srgbClr val="2A3F5F"/>
          </a:solidFill>
          <a:ln/>
        </p:spPr>
      </p:sp>
      <p:sp>
        <p:nvSpPr>
          <p:cNvPr id="22" name="Text 16"/>
          <p:cNvSpPr/>
          <p:nvPr/>
        </p:nvSpPr>
        <p:spPr>
          <a:xfrm>
            <a:off x="640080" y="6126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6400800" y="61996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Pulse AI Dashboard  ·  Internship 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Pulse AI Dashboard</dc:title>
  <dc:subject>PptxGenJS Presentation</dc:subject>
  <dc:creator>Intern</dc:creator>
  <cp:lastModifiedBy>Intern</cp:lastModifiedBy>
  <cp:revision>1</cp:revision>
  <dcterms:created xsi:type="dcterms:W3CDTF">2026-06-24T08:37:57Z</dcterms:created>
  <dcterms:modified xsi:type="dcterms:W3CDTF">2026-06-24T08:37:57Z</dcterms:modified>
</cp:coreProperties>
</file>